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00" r:id="rId6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54-44E0-A7C3-0FB52B0A356A}"/>
              </c:ext>
            </c:extLst>
          </c:dPt>
          <c:dPt>
            <c:idx val="1"/>
            <c:bubble3D val="0"/>
            <c:spPr>
              <a:solidFill>
                <a:srgbClr val="17A58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54-44E0-A7C3-0FB52B0A356A}"/>
              </c:ext>
            </c:extLst>
          </c:dPt>
          <c:dPt>
            <c:idx val="2"/>
            <c:bubble3D val="0"/>
            <c:spPr>
              <a:solidFill>
                <a:srgbClr val="48C9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54-44E0-A7C3-0FB52B0A356A}"/>
              </c:ext>
            </c:extLst>
          </c:dPt>
          <c:dPt>
            <c:idx val="3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54-44E0-A7C3-0FB52B0A35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54-44E0-A7C3-0FB52B0A35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54-44E0-A7C3-0FB52B0A35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C54-44E0-A7C3-0FB52B0A356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54-44E0-A7C3-0FB52B0A35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Code</c:v>
                </c:pt>
                <c:pt idx="1">
                  <c:v>Functional</c:v>
                </c:pt>
                <c:pt idx="2">
                  <c:v>Formal</c:v>
                </c:pt>
                <c:pt idx="3">
                  <c:v>Structural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54-44E0-A7C3-0FB52B0A3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96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7A589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Development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Methods &amp; Tools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for Complex SoC &amp; FPGA Designs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  |  Engineering Manager Perspective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A0640-48D1-39D0-7BCE-A0AFD5D5D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Architecture &amp; Device Landscape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490472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904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Devices — Hard CPUs &amp; Soft Cores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929384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19293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9293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Subsystems: Transceivers, DDR, DSP, AI Engines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3682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3682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Flow Overview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807208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28072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8072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Design, IP Integration &amp; Protocols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246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Implementation &amp; Timing Closure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685032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48640" y="36850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6850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Pinout Planning &amp; Power Design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123944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8640" y="41239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1239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Validation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562856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48640" y="45628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5628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Bring-Up, Debug &amp; Production</a:t>
            </a:r>
            <a:endParaRPr lang="en-US" sz="15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E767018-29AA-3917-2F54-2432B8763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Architecture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silicon building blocks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9607AE-53BE-92A0-7482-AB7E55DEB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FPGA?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Field-Programmable Gate Array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Reconfigurable silicon fabric that can be programmed and reprogrammed after manufacturing.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ASICs, FPGAs offer flexibility, parallelism, and rapid prototyping — ideal for complex, evolving designs.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Parallelism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operations execute simultaneously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5661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Reconfigurability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6616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 in-field without respinning silicon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35508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Time-to-Market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508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vs. months for ASIC tape-out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7B71A5-2F8D-FE0A-0D0F-230B41A46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Internal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61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CLBs / Logic Cells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LUTs, flip-flops, carry chains — the basic logic fabric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161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RAM (BRAM)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321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&amp; block memory for on-chip storage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3774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060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DSP Slices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2588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multiply-accumulate units for math-intensive tasks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23774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060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Management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321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PLLs, MMCMs for clock synthesis, deskew, and domain crossing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3192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 Banks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325880" y="4206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I/O standards: LVCMOS, LVDS, HSTL, SSTL, etc.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54880" y="3703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3192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Transceivers (GT)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532120" y="4206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Multi-gigabit serial links: PCIe, Ethernet, Aurora, JESD204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A54DF2F-423F-DE48-1D2C-9B6C6C9002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FPGA Device Families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71576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AMD/Xilinx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Center, 5G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Engines + ARM + 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AMD/Xilinx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UltraScale+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HPC, Networking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HBM, 58G transceivers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Intel/Altera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Agilex 7/9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Center,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CXL, HBM2e, PCIe 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 / Avant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Edge, Embedded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power, small packages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PolarFire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Aerospace, Ind.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 tolerant, low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Efinix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fabric, RISC-V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Modern FPGAs integrate hard processors, AI accelerators, and HBM — blurring the line between FPGAs and SoCs.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98CD8-4D68-923E-B14E-F56467C33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FPGA Devices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processors, soft cores &amp; heterogeneous compute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E474B8-F125-3BC2-370A-37A1F3F77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FPGAs — Hard CPU Subsystems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System (PS)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ARM Cortex-A / Cortex-R cores embedded alongside the programmable logic (PL).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L1/L2 caches, interrupt controllers, DMA, on-chip interconnect (AXI), boot ROM.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Linux, RTOS, or bare-metal firmware. The PS boots first and can configure the PL dynamically.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SoC Platforms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50876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66360" y="1527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Zynq-7000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755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Cortex-A9 + Artix/Kintex PL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205740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16636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Zynq UltraScale+ MPSoC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A53 + Dual R5 + Mali GPU + PL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260604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66360" y="2624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Versal Adaptive SoC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A72 + Dual R5 + AI Engines + PL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315468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166360" y="3172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 Agilex SoC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A55 / A76 + PL + HPS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370332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166360" y="3721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Microchip PolarFire SoC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(4×U54 + 1×E51) + PL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↔ PL interface is critical: AXI HP, AXI ACP, AXI GP ports determine bandwidth and coherency.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52FF098-4E0A-C58D-0382-9FE0ABE6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Processor Cores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synthesized into programmable logic — flexible but consume FPGA resources.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MicroBlaze / MicroBlaze 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AMD/Xilinx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84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RISC, MMU optional, AXI interconnect, mature ecosystem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Nios II / Nios 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Intel/Altera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529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RISC / RISC-V, Avalon bus, Platform Designer integration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VexRiscv / PicoRV32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7216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cores, highly customizable, community-driven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Cortex-M1 / M3 DesignStart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5902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soft cores for FPGA prototyping, AMBA AHB/APB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611537F-470A-BE6F-1CDB-378CEB25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Subsystems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Transceivers, DDR, DSP, protocols &amp; AI engines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C7E9D1-FA38-D594-5AE6-7F038A20E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High-Speed Transceivers (SerDes)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Multi-gigabit transceivers (MGTs) enable serial links from 1 Gbps to 112+ Gbps per lane.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PCIe, Ethernet, JESD204B/C, Aurora, SATA, DisplayPort, and custom protocols.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TX/RX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920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+ PMA layers: encoding (8b/10b, 64b/66b), CDR, equalization (DFE, CTLE), pre-emphasis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2724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72491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Gen3/4/5, 10G/25G/100G Ethernet, JESD204B/C, Interlaken, CPRI/eCPRI, SRIO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3529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Challenges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52958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tuning, jitter budgets, channel loss compensation, reference clock planning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4334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433425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IBERT / Transceiver Toolkit loopback tests, PRBS pattern generators, eye scan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BCCC6E-B221-BD94-3EE2-D2C64F6DE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DDR Memory Interfaces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 is essential for data-intensive FPGA applications.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27249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DDR3, DDR4, DDR5, LPDDR4/5, HBM2/2e (high-end)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MIG (Xilinx), EMIF (Intel), or soft controllers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Write/read leveling, DQS gate training, VREF training — automated by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Impedance matching, fly-by topology, VTT termination, PCB trace length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DDR4-3200: ~25.6 GB/s (64-bit), HBM2e: ~460 GB/s aggregate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model simulation (Micron VIP), hardware eye scans, stress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E681842-64B1-AFD0-0C2A-17F9374A4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Signal Processing on FPGAs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Hardened DSP Slices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DSP48E2 (Xilinx) / DSP Fixed-Point (Intel) blocks provide: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27×18 multiplier + 48-bit accumulator + pre-adder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registers for high clock rates (&gt;500 MHz)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detect, SIMD modes, cascading chains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FIR/IIR filters, FFTs, matrix operations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DSP Design Approaches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74920" y="14904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HDL (RTL)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instantiation for max control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2075688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HLS / Model-Based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2350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C/C++, MATLAB/Simulink → HDL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688336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74920" y="2715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IP Catalog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962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Compiler, FFT, DDS, CORDIC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300984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74920" y="3328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Pipelines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5753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DSP slices for throughput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DSP applications: radar, SDR, image processing, telecom baseband, audio, medical imaging.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FF26D28-1201-653E-9988-CC03A9838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Engines &amp; Specialized Compute Units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FPGAs embed hardened AI accelerators alongside traditional PL.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Versal AI Engines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6616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VLIW + SIMD vector processors, 400+ AI-TOPS INT8, connected via NoC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0487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48640" y="2404872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772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Versal AI Edge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2450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Engine-ML tiles optimized for edge inference workloads, lower power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1810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3118104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7724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 AI Tensor Blocks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66160" y="31638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Agilex-embedded blocks for INT8/FP16 inference acceleration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83133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48640" y="3831336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77240" y="3877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Lattice sensAI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66160" y="3877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stack for Nexus/Avant: CNN accelerator IP + quantization tools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flow: Vitis AI / oneAPI frameworks compile DNN models → graph partitioning → AI Engine kernels + PL datapath.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85BF7F2-6AC2-C905-096A-651D1BA71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Protocols &amp; IP Core Ecosystem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PCIe Gen3/4/5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subsystems, BARs, MSI-X, root complex / endpoint modes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100G Ethernet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+ PCS, RS-FEC, AXI-Stream interface, timestamping for PTP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JESD204B/C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3682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ADC/DAC interfacing for RF systems — deterministic latency, multi-link sync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DDR/HBM Controllers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0266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or soft MIG/EMIF with calibration, ECC, and reordering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 Interconnect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685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bus fabric: AXI4, AXI4-Lite, AXI4-Stream — the backbone of SoC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MIPI CSI-2 / DSI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display interfaces for embedded vision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integration strategy: Buy vs. build vs. open-source — evaluate licensing, support, and verification readiness.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6EE5E1-1EA8-33CF-A98C-48E4464BF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Flow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specification to bitstream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AD717-D61A-C62D-CE0F-E5E204E8E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Development Flow —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097280" cy="1188720"/>
          </a:xfrm>
          <a:prstGeom prst="rect">
            <a:avLst/>
          </a:prstGeom>
          <a:solidFill>
            <a:srgbClr val="0B1F3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Spec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36192" y="1188720"/>
            <a:ext cx="1097280" cy="1188720"/>
          </a:xfrm>
          <a:prstGeom prst="rect">
            <a:avLst/>
          </a:prstGeom>
          <a:solidFill>
            <a:srgbClr val="1A527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536192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36192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Partitioning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33472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98064" y="1188720"/>
            <a:ext cx="1097280" cy="1188720"/>
          </a:xfrm>
          <a:prstGeom prst="rect">
            <a:avLst/>
          </a:prstGeom>
          <a:solidFill>
            <a:srgbClr val="17A58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98064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98064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IP Integration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95344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59936" y="1188720"/>
            <a:ext cx="1097280" cy="1188720"/>
          </a:xfrm>
          <a:prstGeom prst="rect">
            <a:avLst/>
          </a:prstGeom>
          <a:solidFill>
            <a:srgbClr val="2E86C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059936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59936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57216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21808" y="1188720"/>
            <a:ext cx="1097280" cy="1188720"/>
          </a:xfrm>
          <a:prstGeom prst="rect">
            <a:avLst/>
          </a:prstGeom>
          <a:solidFill>
            <a:srgbClr val="17A58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21808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19088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0" y="1188720"/>
            <a:ext cx="1097280" cy="1188720"/>
          </a:xfrm>
          <a:prstGeom prst="rect">
            <a:avLst/>
          </a:prstGeom>
          <a:solidFill>
            <a:srgbClr val="F39C1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8096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845552" y="1188720"/>
            <a:ext cx="1097280" cy="1188720"/>
          </a:xfrm>
          <a:prstGeom prst="rect">
            <a:avLst/>
          </a:prstGeom>
          <a:solidFill>
            <a:srgbClr val="E74C3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845552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45552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Process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3154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may loop back: timing failures trigger re-synthesis, verification bugs require RTL changes, pinout constraints affect floorplanning.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SoC designs, add parallel software development tracks (firmware, drivers, OS bring-up) and HW/SW co-verification.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9F721C2-9BFD-F57F-3AC1-68F16567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&amp; Specification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161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Spec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43560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I/O interfaces, data rates, latency budgets, processing functions, and control protocols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762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Selection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239572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density, DSP/BRAM counts, transceiver speeds, I/O count, thermal envelope, package &amp; cost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3639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Partitioning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335584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vs. PL split (SoC), clock domains, memory hierarchy, inter-block interfaces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9651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 Specification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71600" y="43159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Fmax, pinout pre-planning, power budget, environmental (temp, vibration)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50606C-11CC-3AFB-C87C-7F109D475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Design &amp; HDL Languages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Description Languages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SystemVerilog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5361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RTL + verification (UVM)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084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VHDL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0848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typing, common in aerospace &amp; defense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Chisel / SpinalHDL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63347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Scala-based HDL generators for parameterized designs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85800" y="3182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HLS (C/C++/OpenCL)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182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→ RTL: Vitis HLS, Intel HLS, Catapult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5800" y="3730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MATLAB/Simulink HDL Coder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730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design → synthesizable HDL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design methodology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Parameterized, reusable modules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domain crossing (CDC) awareness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strategy: sync vs. async, per-domain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for synthesis: infer RAMs, DSPs correctly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checks: Spyglass, Ascent, Questa Lint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 + CI/CD pipelines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8B0A59D-93A1-6DB5-6618-18A1141DD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Core Integration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MIG, PCIe, Ethernet MAC, FIFO, DMA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Verified, optimized, supported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lock-in, licensing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NWL PCIe, Cadence TIP, Synopsys DesignWare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features, multi-vendor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integration effort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OpenCores, PULP, LiteX, FuseSoC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transparent, modifiable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support, variable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datapaths, proprietary algorithms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control, differentiation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time, verification burden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flow: IP Catalog / Platform Designer → parameterize → generate → connect via bus (AXI/Avalon) → constrain → verify.</a:t>
            </a:r>
            <a:endParaRPr lang="en-US" sz="1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E17E3-763A-2CCA-C2DF-BA36B907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 &amp; Implementation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RTL into configured silicon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14BA8-E191-76A1-B75C-005E964C0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Synthesis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→ Gate-Level Netlist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maps HDL code to FPGA primitives (LUTs, FFs, BRAM, DSP). The tool optimizes for area, speed, or power based on directives.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Vivado Synthesis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3591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AMD/Xilinx — incremental synthesis, OOC per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Quartus Pro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— HyperFlex pipeline optimization, DSE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Synplify Pro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3493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— multi-vendor, strong for large designs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1520" y="4059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Yosys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40599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— Lattice/iCE40, research, ECP5+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decisions: synthesis strategy (Flow_PerfOptimized, Area), retiming, resource sharing, FSM encoding.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F2AAFD-A2E3-1D64-E10A-52B7B86D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 &amp; Routing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05156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88720" y="1088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optimization post-synthesis: constant prop, redundancy removal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178308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88720" y="1819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netlist cells to physical FPGA sites — minimize wire length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251460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188720" y="2551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Opt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834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Replication, retiming, critical path optimization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32461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872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5661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placed cells — congestion-aware, timing-driven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1560" y="397764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Post-Route Opt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2976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tweaks: hold-time fix insertion, net delay optimization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designs: use incremental implementation, pblocks (floorplanning), and out-of-context (OOC) synthesis.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E949FE5-A07B-2369-FA29-E7327C081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 Closure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setup &amp; hold requirements across all clock domains.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SDC / XDC Constraints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create_clock — define primary clocks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create_generated_clock — PLL/MMCM outputs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set_input_delay / set_output_delay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set_false_path / set_multicycle_path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set_max_delay for CDC paths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set_clock_groups for async domains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 Strategies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20574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critical paths (register balancing)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 with pblocks to reduce wire length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phys_opt_design directives aggressively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skew management (BUFG, BUFGCE)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logic levels: refactor RTL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DSE: sweep strategies automatically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DF6626-8C34-E65F-AD2F-48C121A0E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Pinout &amp; Power Design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I/O planning and power integrity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E77A9E-8401-E88E-50C9-1C23D3291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Pinout Planning &amp; I/O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 Bank Rules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0332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bank supports specific I/O standards. Cannot mix LVCMOS 3.3V and SSTL 1.2V in the same bank. Plan early.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Locking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6916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critical pins (clocks, transceivers, DDR) first. Use the vendor I/O planner tool before PCB layout.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Differential Pairs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3500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LVDS, SSTL, HSTL require true diff pairs. Verify polarity and pin-pair availability per bank.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/ Noise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00837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Switching Output limits per bank. Too many fast outputs → ground bounce. Space and stagger.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666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Migration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66674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Pin-compatible packages allow device upgrades. Design for the footprint family (e.g., FF1156 → FF1760).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432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PCB Co-Design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43251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pinout with PCB designer: minimize BGA escape routing, matched-length DDR traces, power plane splits.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897B96-E13F-B41D-261A-BAACACCBF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Design &amp; Estimation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power = Static (leakage) + Dynamic (switching activity × capacitance × V² × f)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858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Estimation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XPE / EPE spreadsheets: estimate power pre-design using resource counts and toggle rates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Post-Implementation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Power Report / PowerPlay: uses actual routing, annotated switching activity (SAIF)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858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Rail Design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rails: VCCINT, VCCAUX, VCCBRAM, VCCO, MGTAVCC/TT. Use vendor-recommended PMICs (Infineon, MPS)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160" y="32004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Management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temp (Tj) budgets, thermal resistance (θJA), heatsinks, airflow, multi-die thermal stacking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BDCDFE9-35DD-ED31-EF33-D037DF03A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Optimization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gating — disable clocks to unused logic regions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RAM power mode — low-power vs. high-performance BRAM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voltage/frequency scaling (DVFS) in SoC designs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standard selection — lower-voltage I/O reduces VCCO power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reconfiguration — load only needed modules at runtime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power-down — unused MGTs should be powered off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directives — power-optimized synthesis strategies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rate reduction — gray coding, pipeline balancing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Dynamic power typically dominates in large designs. Focus on clock and data toggle rates first.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F4CF0A-C774-D319-03AA-043C0F8A6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&amp; Validation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correctness before and after silicon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966365-D896-8EE3-74AB-79375F0B4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Strategy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consumes 60–80% of project effort in complex FPGA designs. A structured approach is essential.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16459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/ Block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691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RTL module independently — focused testbenches, corner cases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51560" y="23317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377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interconnected subsystems — bus protocols, data flow, interrupt handling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51560" y="30175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0" y="3063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Full-chip simulation — end-to-end data paths, boot sequences, error injection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1560" y="37033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887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3749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prove properties — CDC, connectivity, deadlock freedom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51560" y="43891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1887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08960" y="4434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validation — ILA, VIO, JTAG debug, lab testing with real I/O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B94289D-7C33-56C4-A82A-9D73A8E0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&amp; Emulation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67004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Simulator (xsim)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AMD/Xilinx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Integrated, free, good for basic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ModelSim / Questa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EDA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 — UVM, CDC,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Synopsys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High-performance — large SoC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Xcelium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Multi-language, low-power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cycle-accurate C++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Python-based verification — rapid testbenches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Emulation &amp; Prototyping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Palladium, Synopsys ZeBu, Siemens Veloce — FPGA-based emulators for SoC pre-silicon SW development at near-real-time speed.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6CCD8-FAAF-B7DD-6F6C-0465885B9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UVM &amp; Testbench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Verification Methodology — reusable, scalable verification environment.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420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UVM Agent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9019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+ Monitor + Sequencer per interface — reusable across projects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359152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Scoreboard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25880" y="270662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reference model — compare expected vs. actual transactions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63824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735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09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25880" y="351129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generation — random, directed, constrained-random scenarios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968496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7822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25880" y="43159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 groups + code coverage → measure verification completeness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FPGA: UVM adoption varies. Many teams use simpler directed + constrained-random testbenches with Cocotb or SV.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FA92FFF-844A-E960-A02F-EE990E23D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Verification &amp; Static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methods mathematically prove design properties without simulation vectors — exhaustive by nature.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Spyglass CDC, Questa CDC — identify unsafe clock domain crossings, missing synchronizers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 Checking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3500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Jasper, Questa Formal — assert/assume/cover properties in SVA, bounded model checking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30083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00837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register map connectivity, bus address decoding, interrupt routing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6667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Equivalence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6667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 (Conformal, Formality) — confirm synthesis didn't alter behavior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79392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48640" y="4279392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 &amp; Rules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43251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Spyglass Lint, Ascent — coding standard checks, synthesis warnings, naming conventions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03B5B9D-F216-7A96-FE86-6ED2D5C32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Metrics &amp; Sign-Off Criteria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8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Types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15087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Coverage: line, branch, toggle, FSM state/transition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Coverage: user-defined covergroups, cross-coverage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Proofs: assertions proven or bounded to depth 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Structural: connectivity, register access, interrupt paths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0" y="3474720"/>
            <a:ext cx="4572000" cy="8229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2519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Sign-Off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51960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goals: &gt;95% code coverage, 100% functional coverage on critical features, all CDC violations resolved, zero critical lint warnings.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4476F9-1D05-44A0-7071-0C3F8AA2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Validation &amp; Debug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bitstream to working hardware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A5B6E1-9DAE-39BF-5D3B-765DF53C1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Bitstream Generation &amp; Configuration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424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Bitstream Types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1042416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bitstream, partial reconfiguration bitstreams, encrypted/authenticated bitstreams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8046720" cy="7132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Modes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179222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JTAG, SPI flash, BPI flash, SD card, SelectMAP, ICAP (internal), PS-driven (SoC)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8046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54203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encryption (AES-256), HMAC authentication, eFuse key storage, anti-tamper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8046720" cy="7132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29184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compression reduces flash size and configuration time (typ. 2–5× reduction)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8046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Multi-Boot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041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images, golden/update partitions — critical for remote/field-deployed systems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Reconfiguration: swap logic modules at runtime without full reset — used in multi-tenant, SDR, and adaptive systems.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420D0A5-0089-1602-FC41-9EE705C5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On-Chip Debug &amp; Instrumentation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ILA / SignalTap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4356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logic analyzers into the fabric — capture internal signals triggered by conditions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47672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848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993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 / In-System Sources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23317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I/O: read/write internal registers in real-time via JTAG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843784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8094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889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IBERT / Transceiver Toolkit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32278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scan, BER testing, loopback for multi-gigabit transceivers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739896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7705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7856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Monitor / SDM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71600" y="412394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On-die voltage, temperature, current sensors — health monitoring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equipment: oscilloscopes, logic analyzers, BER testers, spectrum analyzers — complement on-chip tools for physical-layer debug.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921558-3462-0A98-5E36-1ACEF054CA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Bring-Up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24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Power-On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0241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voltage rails — sequencing, levels, ripple. Check FPGA DONE / INIT_B pins.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591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59105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bitstream via JTAG. Verify boot from flash. Check configuration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39696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2212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157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15798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reference clocks, PLL lock, jitter. Verify clock distribution.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06624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2779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I/O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272491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toggle test, LED blink, UART console — confirm basic FPGA operation.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73552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346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Init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2918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calibration check, memory BIST, read/write patterns at full speed.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48640" y="39136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858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Bring-Up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38587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link-up, PCIe enumeration, Ethernet link/ping, sensor interfaces.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07408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425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Test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44256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 firmware, end-to-end data path, stress testing.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AB11074-75B9-FDFE-0660-12C922E57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Software Development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SoC FPGAs, parallel HW + SW development is critical to schedule.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Bare-Metal / RTOS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register access, interrupt-driven, minimal latency. Xilinx standalone BSP, Intel HWLIB.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 / Embedded 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7706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PetaLinux (AMD), SoC EDS (Intel), Buildroot, Yocto. Device tree configuration for PL peripherals.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Drivers &amp; HAL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62102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Linux drivers for PL IP (UIO, DMA-BUF), AXI-accessible register maps.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4105656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4714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User-space apps (C/C++, Python), FPGA manager for runtime reconfiguration, OpenCL/SYCL.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A97D0AB-505A-5A05-DEA4-4BA4D972C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HW/SW Co-Verification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interface between programmable logic and processor subsystem.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Co-Simulation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600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+ HDL simulator: run ARM firmware against RTL simulation of PL — catches AXI protocol issues early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Platforms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virtual platforms (QEMU-based): develop SW before hardware arrives, test boot 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 Emulation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971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Palladium / ZeBu: run full SoC at near-real-time, boot Linux, run SW test suites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Prototyping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657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Multi-FPGA prototype boards (Synopsys HAPS, Cadence Protium): real-speed SW development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On-Target Debug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4343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+ JTAG, Arm DS, Lauterbach TRACE32: step through SW while monitoring PL signals via ILA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EE3B97-CB31-6BE4-3D21-EF1D8C5E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&amp; Deployment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FPGA designs to manufacturing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30674-40C1-D0FB-64C6-B5DA40288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for Production &amp; Manufacturing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42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JTAG Boundary 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0424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board-level connectivity using BSDL files — verify solder joints pre-configuration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Self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17007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BIST, transceiver PRBS BER test, loopback checks in production bitstream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Programming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3591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programming: JTAG chains, SPI flash gang programmers, Vivado HW Manager batch mode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DNA / eFuse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30175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device ID for licensing, board tracking, and secure boot key injection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Qual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36758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cycling, HALT/HASS, vibration — especially for aerospace, automotive, industrial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43342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version registers, build timestamps, Git SHA in firmware — field traceability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5E87897-3127-8661-5BF5-7BD59EC03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Tool Ecosystem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393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Vivado, Quartus Prime, Libero SoC, VS Code + extensions, Sigasi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IP Integrator, Platform Designer, IP-XACT / Kactus2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Questa, VCS, Xcelium, xsim, Verilator, Cocotb, GHDL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/ Lint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Spyglass, Jasper, Questa Formal, Ascent Lint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Synth, Quartus Synth, Synplify Pro, Yosys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P&amp;R, Quartus Fitter, nextpnr (open 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ILA, SignalTap, Chipscope, VIO, System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HLS /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Vitis HLS, Intel HLS, Vitis AI, oneAPI, Catapult HLS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SVN, FuseSoC, Edalize, CI/CD (Jenkins, GitLab CI)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4E6AF84-C8F0-EAF2-1613-1087072F8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FPGAs are heterogeneous SoCs — ARM CPUs, AI engines, HBM, and transceivers are first-class citizens.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5819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dominates project effort (60–80%). Invest in testbench infrastructure, formal methods, and coverage early.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5798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1122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Pinout and power planning must start with device selection — late changes are extremely costly.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88336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26426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reuse strategy (vendor vs. third-party vs. open-source) is a key architectural decision with long-term impact.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1868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31729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 on large devices demands floorplanning, incremental flows, and design-for-timing RTL practices.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703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designs require parallel HW/SW tracks and co-verification — plan for firmware and driver development from day one.</a:t>
            </a:r>
            <a:endParaRPr lang="en-US" sz="12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79392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42336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FPGA is maturing — automated synthesis, simulation regression, and bitstream builds reduce risk.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CA3AD9-30B8-4B34-F5B3-DFADB0B31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06240" y="132588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0" y="13258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Detailed Development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CADCFC"/>
                </a:solidFill>
                <a:latin typeface="Calibri"/>
              </a:rPr>
              <a:t>Workflow view  ·  tools &amp; methods  ·  AI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4A34DB-1EB9-32D1-B881-F692901E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22 Stages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Sequence of development activities covered in this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4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8463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high level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602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1061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1061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438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pinout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200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3659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659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partition and clock domains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798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6257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257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634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Micro architecture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4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463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8602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1061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1061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438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200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73659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RF design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3798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6257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6257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634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Logic design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04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8463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IP-Core design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8602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61061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1061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438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Static Analysis, Lint &amp; Coding standards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200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73659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3659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3798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86257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6257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634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Formal Verification &amp; Property Checking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004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8463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463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Design of software and embedded SW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8602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61061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1061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438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Version Control, CI/CD, Build &amp; Regression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1200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73659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3659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036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Design for Test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3798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86257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6257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5634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004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8463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463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Fit (Synthesis + P&amp;R)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48602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61061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61061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438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Bit Generation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1200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473659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73659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3036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3798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86257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86257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5634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Testing POD and software testing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0040" y="41014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484632" y="41986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84632" y="41986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8408" y="41529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ATP Testing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486020" y="41014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610612" y="41986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610612" y="41986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04388" y="41529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F01BE225-FC02-2DEC-71A3-1A07381B6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1–3 · Architecture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high level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FPGA family/vendor selection; overall FPGA architecture; early resource and power estimation.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Excel-based power estimation sheets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Early Power Estimation (EPE) tools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MATLAB for DSP modeling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Engineering judgment from prior designs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Power estimation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Utilization estimation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FPGA selection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pinout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Map logical signals to physical pins; respect bank voltages, I/O standards, and board constraints.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pinout tools (Vivado, Quartus)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Board schematic cross-reference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FPGA pad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FPGA pad analysis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partition and clock domains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Module boundaries, clock domains, and data-flow architecture; clock design per interface and function.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Architectural sketches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CDC analysis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Partition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Clock-domain planner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AA9F3CA-C895-2C81-D1D7-3D4D0A29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4–6 · Micro-architecture &amp; Subsystems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Micro architecture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Translate system-level requirements into module-level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MS-Visio / Draw.io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MS-Word for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Architect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Gigabit interfaces: DDR3/4/5, PCIe, CPRI, Aurora, 10/25G Ethernet, JESD204B.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protocol IP cores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Transceiver configuration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DDR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Aurora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GETH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PCIe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JESD control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SoC system design with AXI interconnect, CPU, external memories, FPGA logic. Tcl-described block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 Block Design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Questa System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TCL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Vivado BD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Vivado BD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Quartus QSys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Quartus QSys analysis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C3029B0-D2F2-3D9A-D139-63316C290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7–9 · RF, Logic &amp;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RF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For FPGAs with RF ADC/DAC: design and configure RF converter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Questa System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RF configuration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RF configuration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Xilinx frequency planner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Logic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RTL code implementing the microarchitecture; HLS where applicable.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VS Code + Cline / Continue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 HLS compiler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RTL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HLS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Design review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IP-Core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Generate vendor cores (FIFO, memory, FFT, filters) and integrate 3rd-party 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CoreGen and vendor IP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IP-core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39E797-DE99-CD01-7CEF-59645D6F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10–12 · Code Quality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Static Analysis, Lint &amp; Coding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Code-quality gating: lint, structural and style checks against rule decks.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Mentor / Spyglass Lint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vLint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Lint-waiver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Coding-standard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Rule-deck authoring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Functional validation via control-logic and vector-driven simulation; UVM/SystemVerilog for advanced testbenches.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ModelSim / Questa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CDC tools: vSync, Mentor CDC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Python / MATLAB for golden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CDC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Sim-plan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BFM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Python simulation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Tcl simulation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SV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UVM plan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UVM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Sim result analysis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Formal Verification &amp; Property Checking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Property-based proof for control logic, FSMs, arbiters, CDC paths. Complements UVM.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Questa Formal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Synopsys VC Formal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SVA-property generator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Cover-point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Formal-result analysis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564A86A-2568-0710-ACDA-ECEE07C2E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13–16 · Infrastructure &amp;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360741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6074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Design of software and embedded SW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SW interfaces, register file, IDD; bare-metal embedded firmware (separate flow).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MS-Word / Excel for IDD &amp; API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embedded-SW 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Memory map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IDD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Register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1777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30828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308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044827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Version Control, CI/CD, Build &amp;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337435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Git-based version control plus FPGA build/regression for integration and release.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044827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Git, SmartGit, GitLab, Jenkins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Make/CMake, Hancho, Python build frameworks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Vivado/Quartus container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044827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Git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Build-script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Regression-dashboard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Reproducibility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69324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3255835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25583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9237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Design for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284982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Test/debug logic for POD, ATP, and field deployment; operational logging; remote-update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2992374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Design documents within microarch and RTL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992374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DFT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DFT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6871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65760" y="420338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20338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939921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232529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FDD, ICD, register description; SRR, PDR, CDR review packages.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4216" y="3939921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MS-Word, Excel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MS-Visio / Draw.io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PowerPoint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3939921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SRR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PDR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CDR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FDD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ICD agent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CC60B70-9789-01C2-F078-D4C75819D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17–19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Fit (Synthesis + P&amp;R)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Synthesis to target library; placement and routing; timing-driven with constraint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Quartus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Timing-constraint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Placement-constraint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Vivado 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Quartus 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Synth/P&amp;R report analysis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Bit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Generate the bitstream / flash image for FPGA programming.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IDE bit-gen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Bit-gen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Verify timing against constraints across PVT corners and all interfaces.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STA flows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Constraint authoring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Transceiver 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DDR 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Pad 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 results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 test commands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 fix proposal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68CDB29-EEE5-E68E-3954-8069C4493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20–22 · Test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Testing POD and software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Full-capability functional test on hardware; POD/ATR documentation; release packaging.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Test scripts (Python, MATLAB)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System test application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POD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POD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FVD document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ATP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Production-stage test for unit performance; design team prepares the ATP documentation.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Production test rigs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ATP documentation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ATR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ATP debug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Full-system integration and real-world corner cases; in-system probes for debug and analysis.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ChipScope / ILA, SignalTap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Python / MATLAB log analysis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Application-layer test SW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ChipScope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SignalTap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ChipScope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SignalTap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Debug 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Result analysis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7548B0-B689-A3E8-E289-607D2EFA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Design Cycle — Effort &amp; Complexity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Typical effort distribution and complexity/risk score per stage. Effort sums to 100%; risk is 0 (low) to 5 (high).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42062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 of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5331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5331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high level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35331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500" y="140027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0500" y="140027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648413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648413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pinout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648413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0500" y="169538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0500" y="169538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943515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1943515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943515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partition and clock domains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1943515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0500" y="199048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00500" y="199048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238617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238617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Micro architecture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238617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500" y="2285584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0500" y="2285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533719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33719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533719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533719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00500" y="2580686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00500" y="258068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2828821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28821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2828821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00500" y="287578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00500" y="28757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12392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312392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12392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RF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312392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00500" y="3170889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000500" y="317088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3419024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419024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Logic design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3419024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17%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00500" y="3465991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00500" y="3465991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714126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3714126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3714126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IP-Core design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3714126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00500" y="3761093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000500" y="3761093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009228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009228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Static Analysis, Lint &amp; Coding standards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4009228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00500" y="4056195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8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00500" y="405619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304330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4304330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304330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91840" y="4304330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22%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00500" y="4351297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000500" y="435129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1078992"/>
            <a:ext cx="42062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63440" y="1078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0" y="1078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 of cycle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17720" y="135331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663440" y="135331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37760" y="135331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Formal Verification &amp; Property Checking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135331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98180" y="140027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98180" y="140027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3440" y="1648413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0" y="1648413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Design of software and embedded SW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89520" y="1648413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98180" y="169538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98180" y="169538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17720" y="1943515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663440" y="1943515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37760" y="1943515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Version Control, CI/CD, Build &amp; Regression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89520" y="1943515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98180" y="199048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98180" y="199048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63440" y="2238617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37760" y="2238617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Design for Test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89520" y="2238617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98180" y="2285584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298180" y="2285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17720" y="2533719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663440" y="2533719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37760" y="2533719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89520" y="2533719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298180" y="2580686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98180" y="258068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63440" y="2828821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37760" y="2828821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Fit (Synthesis + P&amp;R)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9520" y="2828821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298180" y="287578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298180" y="28757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17720" y="312392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663440" y="312392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37760" y="312392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Bit Generation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89520" y="312392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298180" y="3170889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8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298180" y="317088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63440" y="3419024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37760" y="3419024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89520" y="3419024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298180" y="3465991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98180" y="3465991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17720" y="3714126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663440" y="3714126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37760" y="3714126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Testing POD and software testing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89520" y="3714126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298180" y="3761093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298180" y="3761093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63440" y="4009228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937760" y="4009228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ATP Testing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89520" y="4009228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298180" y="4056195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298180" y="405619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17720" y="4304330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663440" y="4304330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937760" y="4304330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589520" y="4304330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298180" y="4351297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298180" y="435129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0040" y="47548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5A6477"/>
                </a:solidFill>
                <a:latin typeface="Calibri"/>
              </a:rPr>
              <a:t>Risk: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22960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8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22960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52144" y="47548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477"/>
                </a:solidFill>
                <a:latin typeface="Calibri"/>
              </a:rPr>
              <a:t>low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691640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691640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075688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2075688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04872" y="47548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477"/>
                </a:solidFill>
                <a:latin typeface="Calibri"/>
              </a:rPr>
              <a:t>med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944368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944368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328416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328416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57600" y="47548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477"/>
                </a:solidFill>
                <a:latin typeface="Calibri"/>
              </a:rPr>
              <a:t>high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7646CC3E-4448-9B3E-42D7-198DC1590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Design Cycle — Where the Effort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sorted by share of total cycle effort. Verification and RTL dominate; integration and timing closure are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5%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32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0789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11.  Logic Simulation and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1155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1115568"/>
            <a:ext cx="50292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10789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12390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8.  Logic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2755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0" y="1275588"/>
            <a:ext cx="38862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15784" y="12390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13990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4.  Micro architecture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14356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0" y="1435608"/>
            <a:ext cx="13716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01184" y="13990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15590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19.  Timing Closure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15956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74720" y="1595628"/>
            <a:ext cx="13716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01184" y="15590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17190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16.  FPGA Design documents and Reviews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17556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74720" y="1755648"/>
            <a:ext cx="11430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72584" y="17190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18790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20.  Testing POD and software testing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19156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74720" y="1915668"/>
            <a:ext cx="11430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2584" y="18790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0391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22.  Advanced Integration 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0756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474720" y="2075688"/>
            <a:ext cx="11430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72584" y="20391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21991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1.  FPGA high level architecture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22357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474720" y="2235708"/>
            <a:ext cx="9144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43984" y="21991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23591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5.  Fast Protocols and transceivers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23957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74720" y="2395728"/>
            <a:ext cx="9144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43984" y="23591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25191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6.  SOC and Soft core design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25557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474720" y="2555748"/>
            <a:ext cx="9144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43984" y="25191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26791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13.  Design of software and embedded SW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27157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474720" y="2715768"/>
            <a:ext cx="6858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15384" y="26791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28392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17.  FPGA Fit (Synthesis + P&amp;R)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28757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474720" y="2875788"/>
            <a:ext cx="6858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15384" y="28392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29992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3.  FPGA partition and clock domains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30358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474720" y="303580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86784" y="29992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31592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7.  RF design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0" y="31958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474720" y="319582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86784" y="31592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33192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9.  IP-Core design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74720" y="33558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474720" y="335584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986784" y="33192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34792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12.  Formal Verification &amp; Property Checking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0" y="35158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474720" y="351586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986784" y="34792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040" y="36393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14.  Version Control, CI/CD, Build &amp; Regression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36758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474720" y="367588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86784" y="36393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37993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15.  Design for Test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74720" y="38359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474720" y="383590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86784" y="37993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0040" y="39593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2.  FPGA pinout design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39959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474720" y="399592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758184" y="39593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040" y="41193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10.  Static Analysis, Lint &amp; Coding standards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41559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474720" y="415594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758184" y="41193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42793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18.  FPGA Bit Generation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74720" y="43159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474720" y="431596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758184" y="42793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040" y="44394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21.  ATP Testing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74720" y="44759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3474720" y="447598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58184" y="44394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85A3CCE5-DB84-48AD-E8A2-993DACE1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Library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78 proposed agents across the 22 development stages. The next three slides list every agent with its stage and one-line scope.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Development
stages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78024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78024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AI agents
identified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Agents in Logic
Simulation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0568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0568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Coverage of the
core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78892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Stages with the most agent opportunities</a:t>
            </a:r>
          </a:p>
        </p:txBody>
      </p:sp>
      <p:sp>
        <p:nvSpPr>
          <p:cNvPr id="19" name="Oval 18"/>
          <p:cNvSpPr/>
          <p:nvPr/>
        </p:nvSpPr>
        <p:spPr>
          <a:xfrm>
            <a:off x="320040" y="315468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1546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1546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154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9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315468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1546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1546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54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6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352044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52044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3520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35204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352044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352044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3520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" y="388620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3886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38862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40" y="38862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5</a:t>
            </a:r>
          </a:p>
        </p:txBody>
      </p:sp>
      <p:sp>
        <p:nvSpPr>
          <p:cNvPr id="39" name="Oval 38"/>
          <p:cNvSpPr/>
          <p:nvPr/>
        </p:nvSpPr>
        <p:spPr>
          <a:xfrm>
            <a:off x="4663440" y="388620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3440" y="3886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38862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8862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5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DB70C86-4AFA-9BE6-ED41-1E113A99A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List  ·  Agents 1–26 of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1 –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Power estimation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1. FPGA high level archite…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Utilization estimation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1. FPGA high level archite…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FPGA selection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1. FPGA high level archite…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FPGA pad design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2. FPGA pinout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FPGA pad analysis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2. FPGA pinout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Partition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3. FPGA partition and cloc…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Clock-domain planner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3. FPGA partition and cloc…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Architect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639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4. Micro architecture design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490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DDR control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Aurora control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639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490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GETH control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3639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PCIe control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3639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490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JESD control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639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6402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TCL design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402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Vivado BD design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916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6402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Vivado BD analysis 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402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6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Quartus QSys design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6402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Quartus QSys analysis 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551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6402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RF configuration 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2551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7. RF design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RF configuration analysis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2551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7. RF design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402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6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Xilinx frequency planner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2551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7. RF design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0916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76402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6636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RTL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8. Logic design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402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6636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HLS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551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8. Logic design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0916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76402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Design review agent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51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8. Logic design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6402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IP-core 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2551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9. IP-Core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6402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6636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Lint-waiver agent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2551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10. Static Analysis, Lint …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E182DDCA-3B05-0FCF-5237-87B7F2F5C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List  ·  Agents 27–52 of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10 –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Coding-standard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10. Static Analysis, Lint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Rule-deck authoring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10. Static Analysis, Lint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CDC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Sim-plan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BFM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Python simulation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Tcl simulation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SV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639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490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UVM plan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UVM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639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490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Sim result analysis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3639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SVA-property generator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3639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12. Formal Verification &amp; 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490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Cover-point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639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12. Formal Verification &amp;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6402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Formal-result analysis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12. Formal Verification &amp; 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402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Memory map design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13. Design of software and…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916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6402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IDD 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13. Design of software and…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402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6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Register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13. Design of software and…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6402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Git 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551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6402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Build-script 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2551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Regression-dashboard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2551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402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6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Reproducibility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2551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0916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76402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6636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DFT analysis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15. Design for Test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402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6636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DFT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551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15. Design for Test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0916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76402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SRR agent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51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6402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PDR 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2551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6402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6636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CDR agent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2551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58F4537-24BC-45EE-0D67-712CB302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List  ·  Agents 53–78 of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16 –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FDD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ICD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Timing-constraint file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Placement-constraint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Vivado script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Quartus script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Synth/P&amp;R report analysis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Bit-gen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639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18. FPGA Bit Generation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490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Transceiver constraint file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DDR constraint file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639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490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Pad constraint file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3639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 results analysis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3639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490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 test commands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639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6402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 fix proposal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402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POD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20. Testing POD and softwa…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916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6402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POD analysis 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20. Testing POD and softwa…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402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6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FVD document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20. Testing POD and softwa…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6402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ATP documentation 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551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21. ATP Testing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6402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ATR analysis 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2551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21. ATP Testing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ATP debug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2551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21. ATP Testing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402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6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ChipScope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2551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0916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76402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6636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SignalTap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402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6636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ChipScope analysis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551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0916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76402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SignalTap analysis agent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51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6402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Debug script 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2551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6402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6636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Result analysis agent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2551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C185C9F-B1BD-C400-F0EF-9833430C2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7A589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60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F1868-B321-4046-0E7A-346C805D3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6399</Words>
  <Application>Microsoft Office PowerPoint</Application>
  <PresentationFormat>On-screen Show (16:9)</PresentationFormat>
  <Paragraphs>1362</Paragraphs>
  <Slides>60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Development — Stages, Methods &amp; Tools</dc:title>
  <dc:subject>PptxGenJS Presentation</dc:subject>
  <dc:creator>FPGA Engineering Team</dc:creator>
  <cp:lastModifiedBy>Dan Mayaffit</cp:lastModifiedBy>
  <cp:revision>2</cp:revision>
  <dcterms:created xsi:type="dcterms:W3CDTF">2026-05-02T20:57:03Z</dcterms:created>
  <dcterms:modified xsi:type="dcterms:W3CDTF">2026-05-12T14:12:12Z</dcterms:modified>
</cp:coreProperties>
</file>